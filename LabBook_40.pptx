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88" r:id="rId10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21" autoAdjust="0"/>
    <p:restoredTop sz="95033" autoAdjust="0"/>
  </p:normalViewPr>
  <p:slideViewPr>
    <p:cSldViewPr>
      <p:cViewPr varScale="1">
        <p:scale>
          <a:sx n="127" d="100"/>
          <a:sy n="127" d="100"/>
        </p:scale>
        <p:origin x="1176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25/5/26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25/5/26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87AEC-015A-4808-9AC9-382D824E4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FC03EDA-741F-B6F5-3444-A8D74D690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7839219-55CF-753A-3C53-04F6B1E28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4B99BF-32CC-B000-CB3E-0CD66FF7C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7642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2BF37-98F6-CD9B-2255-0A64B5CEA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B68927E-2442-0553-FBC8-D3C32BCC5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6130D77-4D33-EE41-3A9E-4EB6D2419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BAC07D-EBC4-F68A-7BE7-2B2DCCECD5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5431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988B3-C141-4645-2F2A-A09F40826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B22BAD8-B0CC-3164-3027-A210D7EB7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3995D4B-1202-927A-28C9-66F35C33A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56FFEE-1184-FFA2-1E7F-CC9E8439A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095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9EAE7-9EAB-544B-26F0-D89AD57C0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7142DDC-39F3-B8EF-C550-B1BDBF798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14E7676-8E00-A60E-B890-D4F612C9A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8AAF8C-62CF-3619-1C70-91E48BE9A4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3104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169CA-A6E9-D0C3-4D3A-6AF908910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EC97DB9-2632-3700-0312-BB76DC46D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A897758-8CC0-1479-13D7-87B5FBD74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60DEFB-1A44-3354-5B15-298FF8A10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6459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4.0. LAYOUT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4.0. LAYOUT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7"/>
          <p:cNvSpPr/>
          <p:nvPr userDrawn="1"/>
        </p:nvSpPr>
        <p:spPr>
          <a:xfrm>
            <a:off x="608171" y="381001"/>
            <a:ext cx="45731" cy="6834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Título 8"/>
          <p:cNvSpPr>
            <a:spLocks noGrp="1"/>
          </p:cNvSpPr>
          <p:nvPr>
            <p:ph type="title" hasCustomPrompt="1"/>
          </p:nvPr>
        </p:nvSpPr>
        <p:spPr>
          <a:xfrm>
            <a:off x="736652" y="381000"/>
            <a:ext cx="7778317" cy="313782"/>
          </a:xfrm>
        </p:spPr>
        <p:txBody>
          <a:bodyPr>
            <a:normAutofit/>
          </a:bodyPr>
          <a:lstStyle>
            <a:lvl1pPr algn="l">
              <a:defRPr sz="2800" b="1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Open Sans Extrabold" panose="020B090603080402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/>
              <a:t>TITULO</a:t>
            </a:r>
          </a:p>
        </p:txBody>
      </p:sp>
      <p:sp>
        <p:nvSpPr>
          <p:cNvPr id="13" name="Marcador de texto 12"/>
          <p:cNvSpPr>
            <a:spLocks noGrp="1"/>
          </p:cNvSpPr>
          <p:nvPr>
            <p:ph type="body" sz="quarter" idx="10" hasCustomPrompt="1"/>
          </p:nvPr>
        </p:nvSpPr>
        <p:spPr>
          <a:xfrm>
            <a:off x="608171" y="1295401"/>
            <a:ext cx="11051877" cy="4958137"/>
          </a:xfrm>
        </p:spPr>
        <p:txBody>
          <a:bodyPr>
            <a:normAutofit/>
          </a:bodyPr>
          <a:lstStyle>
            <a:lvl1pPr>
              <a:defRPr sz="2400" baseline="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2pPr>
            <a:lvl3pPr>
              <a:defRPr sz="16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3pPr>
            <a:lvl4pPr>
              <a:defRPr sz="14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4pPr>
            <a:lvl5pPr>
              <a:defRPr sz="14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s-ES" dirty="0"/>
              <a:t>Texto del contenido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23" name="Marcador de texto 22"/>
          <p:cNvSpPr>
            <a:spLocks noGrp="1"/>
          </p:cNvSpPr>
          <p:nvPr>
            <p:ph type="body" sz="quarter" idx="11" hasCustomPrompt="1"/>
          </p:nvPr>
        </p:nvSpPr>
        <p:spPr>
          <a:xfrm>
            <a:off x="736652" y="730647"/>
            <a:ext cx="7778317" cy="3810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del artículo con una explicación corta a modo resumen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87407"/>
            <a:ext cx="1980287" cy="303019"/>
          </a:xfrm>
          <a:prstGeom prst="rect">
            <a:avLst/>
          </a:prstGeom>
        </p:spPr>
        <p:txBody>
          <a:bodyPr vert="horz" lIns="117208" tIns="58604" rIns="117208" bIns="5860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4768" y="6387407"/>
            <a:ext cx="6402465" cy="303019"/>
          </a:xfrm>
          <a:prstGeom prst="rect">
            <a:avLst/>
          </a:prstGeom>
        </p:spPr>
        <p:txBody>
          <a:bodyPr vert="horz" lIns="117208" tIns="58604" rIns="117208" bIns="5860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LAB 4.0. LAYOUT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31389" y="6388096"/>
            <a:ext cx="760611" cy="303019"/>
          </a:xfrm>
          <a:prstGeom prst="rect">
            <a:avLst/>
          </a:prstGeom>
          <a:solidFill>
            <a:schemeClr val="bg2"/>
          </a:solidFill>
        </p:spPr>
        <p:txBody>
          <a:bodyPr vert="horz" lIns="117208" tIns="58604" rIns="117208" bIns="58604" rtlCol="0" anchor="ctr"/>
          <a:lstStyle>
            <a:lvl1pPr algn="r">
              <a:defRPr sz="1200">
                <a:solidFill>
                  <a:srgbClr val="FF6309"/>
                </a:solidFill>
              </a:defRPr>
            </a:lvl1pPr>
          </a:lstStyle>
          <a:p>
            <a:fld id="{C2F52289-4012-4053-9770-FE82CEB9514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640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4.0. LAYOUT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scualmunoz/cifoin-lab4.git" TargetMode="Externa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921372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>
                <a:latin typeface="Lucida Sans"/>
                <a:cs typeface="Lucida Sans"/>
              </a:rPr>
              <a:t>Lab Book 3.0 Circuits and Compact </a:t>
            </a:r>
            <a:r>
              <a:rPr lang="es-ES" sz="3200" b="1" dirty="0" err="1">
                <a:latin typeface="Lucida Sans"/>
                <a:cs typeface="Lucida Sans"/>
              </a:rPr>
              <a:t>Models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</a:t>
            </a: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  <a:hlinkClick r:id="rId3"/>
              </a:rPr>
              <a:t>https://github.com/pascualmunoz/cifoin-lab4.git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Open folder / repo in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Open terminal: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uv</a:t>
            </a: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 sync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 err="1">
                <a:solidFill>
                  <a:sysClr val="windowText" lastClr="000000"/>
                </a:solidFill>
              </a:rPr>
              <a:t>LAYOUT_STUDENT.ipynb</a:t>
            </a:r>
            <a:r>
              <a:rPr lang="en-US" kern="0" dirty="0">
                <a:solidFill>
                  <a:sysClr val="windowText" lastClr="000000"/>
                </a:solidFill>
              </a:rPr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kern="0" dirty="0">
              <a:solidFill>
                <a:sysClr val="windowText" lastClr="000000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FF0000"/>
                </a:solidFill>
              </a:rPr>
              <a:t>Points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FF0000"/>
                </a:solidFill>
              </a:rPr>
              <a:t>LO1: 3 points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FF0000"/>
                </a:solidFill>
              </a:rPr>
              <a:t>LO2: 3 points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FF0000"/>
                </a:solidFill>
              </a:rPr>
              <a:t>LO3: 1 points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FF0000"/>
                </a:solidFill>
              </a:rPr>
              <a:t>LO4: 3 points</a:t>
            </a:r>
          </a:p>
          <a:p>
            <a:pPr algn="just"/>
            <a:endParaRPr lang="en-US" b="1" i="1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#1a – Notebook section 1. Technology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s-ES" b="0" i="1" spc="-5" dirty="0">
                <a:latin typeface="+mj-lt"/>
              </a:rPr>
              <a:t>“</a:t>
            </a:r>
            <a:r>
              <a:rPr lang="es-ES" b="0" i="1" spc="-5" dirty="0" err="1">
                <a:latin typeface="+mj-lt"/>
              </a:rPr>
              <a:t>We</a:t>
            </a:r>
            <a:r>
              <a:rPr lang="es-ES" b="0" i="1" spc="-5" dirty="0">
                <a:latin typeface="+mj-lt"/>
              </a:rPr>
              <a:t> </a:t>
            </a:r>
            <a:r>
              <a:rPr lang="es-ES" b="0" i="1" spc="-5" dirty="0" err="1">
                <a:latin typeface="+mj-lt"/>
              </a:rPr>
              <a:t>will</a:t>
            </a:r>
            <a:r>
              <a:rPr lang="es-ES" b="0" i="1" spc="-5" dirty="0">
                <a:latin typeface="+mj-lt"/>
              </a:rPr>
              <a:t> </a:t>
            </a:r>
            <a:r>
              <a:rPr lang="es-ES" b="0" i="1" spc="-5" dirty="0" err="1">
                <a:latin typeface="+mj-lt"/>
              </a:rPr>
              <a:t>work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with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the</a:t>
            </a:r>
            <a:r>
              <a:rPr lang="es-ES" b="0" i="1" spc="-5" dirty="0">
                <a:latin typeface="+mj-lt"/>
                <a:cs typeface="Lucida Sans"/>
              </a:rPr>
              <a:t> demo UPVfab PDK. </a:t>
            </a:r>
            <a:r>
              <a:rPr lang="es-ES" b="0" i="1" spc="-5" dirty="0" err="1">
                <a:latin typeface="+mj-lt"/>
                <a:cs typeface="Lucida Sans"/>
              </a:rPr>
              <a:t>Let's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view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the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layer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distribution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of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this</a:t>
            </a:r>
            <a:r>
              <a:rPr lang="es-ES" b="0" i="1" spc="-5" dirty="0">
                <a:latin typeface="+mj-lt"/>
                <a:cs typeface="Lucida Sans"/>
              </a:rPr>
              <a:t> PDK”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609441" y="4860334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 PDK is …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 general, the layers for layout in a PDK represent …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For our particular PDK we find the following layers, with number and label/description: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2AE4A84-532D-D50D-F368-79FF1C11E97A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24B9AF7-5B09-CE7C-68D9-8620B8F4F607}"/>
              </a:ext>
            </a:extLst>
          </p:cNvPr>
          <p:cNvSpPr txBox="1"/>
          <p:nvPr/>
        </p:nvSpPr>
        <p:spPr>
          <a:xfrm>
            <a:off x="763342" y="2494306"/>
            <a:ext cx="50247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Paste code to view the layer distribution of this PDK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BEC3D78-C227-4F8E-7F5D-F398FB043D20}"/>
              </a:ext>
            </a:extLst>
          </p:cNvPr>
          <p:cNvSpPr/>
          <p:nvPr/>
        </p:nvSpPr>
        <p:spPr>
          <a:xfrm>
            <a:off x="6476841" y="1420406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5806D5A-9C65-5DDA-AF7C-30CC28E9C38F}"/>
              </a:ext>
            </a:extLst>
          </p:cNvPr>
          <p:cNvSpPr txBox="1"/>
          <p:nvPr/>
        </p:nvSpPr>
        <p:spPr>
          <a:xfrm>
            <a:off x="7925522" y="2496339"/>
            <a:ext cx="2435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Paste </a:t>
            </a:r>
            <a:r>
              <a:rPr lang="es-ES" dirty="0" err="1"/>
              <a:t>plot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layers</a:t>
            </a:r>
            <a:r>
              <a:rPr lang="es-ES" dirty="0"/>
              <a:t> </a:t>
            </a:r>
            <a:r>
              <a:rPr lang="es-ES" dirty="0" err="1"/>
              <a:t>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21758-3D0C-3510-194A-4075C73D4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F925C6-A9EE-0450-6CF3-EB5E905BE7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#1b – Notebook section 1. Technology – </a:t>
            </a:r>
            <a:r>
              <a:rPr lang="en-US" sz="2500" dirty="0">
                <a:solidFill>
                  <a:srgbClr val="FF0000"/>
                </a:solidFill>
              </a:rPr>
              <a:t>1 slide per component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61751C67-979A-7D64-9474-F594568485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5A815B6-7BA3-E2CF-377E-EACA0F621FA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18AEC9F-5174-0EEA-5CD3-65515392F16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1BE4500-9BE4-025B-9167-E8AC6466B028}"/>
              </a:ext>
            </a:extLst>
          </p:cNvPr>
          <p:cNvSpPr txBox="1"/>
          <p:nvPr/>
        </p:nvSpPr>
        <p:spPr>
          <a:xfrm>
            <a:off x="609441" y="4860334"/>
            <a:ext cx="11199971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Describe component.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: this is the MMI we designed in Lab2, it is a 2x2 with paired interference, target coupling constant K = 0.5. The relevant dimensions are W_MMI = XX µm L_MMI = YY µm and the I/O positions with respect to center are at +/-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µm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B364273-7E07-9E83-F4A6-1AFD1AEFE243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6224819-75AC-EB82-A160-7A3DE5BF0740}"/>
              </a:ext>
            </a:extLst>
          </p:cNvPr>
          <p:cNvSpPr txBox="1"/>
          <p:nvPr/>
        </p:nvSpPr>
        <p:spPr>
          <a:xfrm>
            <a:off x="2375901" y="2494306"/>
            <a:ext cx="179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Component code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C1E968B-0AE0-37CB-7468-A50896329E70}"/>
              </a:ext>
            </a:extLst>
          </p:cNvPr>
          <p:cNvSpPr/>
          <p:nvPr/>
        </p:nvSpPr>
        <p:spPr>
          <a:xfrm>
            <a:off x="6476841" y="1420406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9877566-4E2F-8CE5-3749-EB4B91552614}"/>
              </a:ext>
            </a:extLst>
          </p:cNvPr>
          <p:cNvSpPr txBox="1"/>
          <p:nvPr/>
        </p:nvSpPr>
        <p:spPr>
          <a:xfrm>
            <a:off x="7956912" y="2496339"/>
            <a:ext cx="2372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Component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424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5B0A8-BCE1-AF65-5AFA-79184BEDA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EDCA2EEE-70B8-D049-D7BD-B54DCCF320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#2a – Notebook section 2. Layout Fundamentals</a:t>
            </a:r>
            <a:br>
              <a:rPr lang="en-US" sz="2500" dirty="0"/>
            </a:br>
            <a:r>
              <a:rPr lang="en-US" sz="1800" b="0" i="1" dirty="0"/>
              <a:t>“Once that we have a working 'new' component, we shall convert it into a Cell. This will allow us to have a hierarchical design”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DB8C9DA-7093-6464-A7C1-20B2A585A1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102C027-A211-C670-7EF5-D7A4650EEA9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BB5A66E-75F8-8688-0D68-26E0DDB3AC8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5C0B36B-B4BD-C242-E1BB-26DD7AC56DB0}"/>
              </a:ext>
            </a:extLst>
          </p:cNvPr>
          <p:cNvSpPr txBox="1"/>
          <p:nvPr/>
        </p:nvSpPr>
        <p:spPr>
          <a:xfrm>
            <a:off x="609441" y="4860334"/>
            <a:ext cx="11199971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Describe component: 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99364F4-A34A-5161-07CB-E12F9FFCB400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2A2AA3F-CE55-C50B-CB18-2C8D2061FDB9}"/>
              </a:ext>
            </a:extLst>
          </p:cNvPr>
          <p:cNvSpPr txBox="1"/>
          <p:nvPr/>
        </p:nvSpPr>
        <p:spPr>
          <a:xfrm>
            <a:off x="1531412" y="2494306"/>
            <a:ext cx="34886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Example code for</a:t>
            </a:r>
          </a:p>
          <a:p>
            <a:pPr algn="ctr"/>
            <a:r>
              <a:rPr lang="en-US" dirty="0"/>
              <a:t>“A die (chip) for a photonic layout”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DFC788C-53E2-83E7-3D9E-EBD582171C71}"/>
              </a:ext>
            </a:extLst>
          </p:cNvPr>
          <p:cNvSpPr/>
          <p:nvPr/>
        </p:nvSpPr>
        <p:spPr>
          <a:xfrm>
            <a:off x="6476841" y="1420406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44A1ED-9D94-1354-DB46-756E574E2C7E}"/>
              </a:ext>
            </a:extLst>
          </p:cNvPr>
          <p:cNvSpPr txBox="1"/>
          <p:nvPr/>
        </p:nvSpPr>
        <p:spPr>
          <a:xfrm>
            <a:off x="8483018" y="2496339"/>
            <a:ext cx="13202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Example</a:t>
            </a:r>
            <a:r>
              <a:rPr lang="es-ES" dirty="0"/>
              <a:t> die</a:t>
            </a:r>
          </a:p>
          <a:p>
            <a:pPr algn="ctr"/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241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D281E-4B83-CADF-E05C-2779A19E8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3C614703-AB72-E989-42B5-849A55E9B3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Learning outcome #2a – Notebook section 2. Layout Fundamentals – </a:t>
            </a:r>
            <a:r>
              <a:rPr lang="en-US" dirty="0">
                <a:solidFill>
                  <a:srgbClr val="FF0000"/>
                </a:solidFill>
              </a:rPr>
              <a:t>1 slide per component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 </a:t>
            </a:r>
            <a:r>
              <a:rPr lang="en-US" sz="1800" b="0" i="1" dirty="0">
                <a:solidFill>
                  <a:srgbClr val="FF0000"/>
                </a:solidFill>
                <a:sym typeface="Wingdings" pitchFamily="2" charset="2"/>
              </a:rPr>
              <a:t> Make cells for all your components</a:t>
            </a:r>
            <a:endParaRPr sz="2500" b="0" i="1" dirty="0">
              <a:solidFill>
                <a:srgbClr val="FF0000"/>
              </a:solidFill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2356666-601E-2F0B-B414-AFB7213C2F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6398BF1-A4DD-D652-E241-5E9DB50DD57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EC070D5-9297-7D8B-73E0-DC21D7D5CE0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8C2352E-973A-F389-F6A1-D644E07F2E7E}"/>
              </a:ext>
            </a:extLst>
          </p:cNvPr>
          <p:cNvSpPr/>
          <p:nvPr/>
        </p:nvSpPr>
        <p:spPr>
          <a:xfrm>
            <a:off x="609441" y="1418373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92D8CBF-451B-83CB-7D64-3CD9C64B8333}"/>
              </a:ext>
            </a:extLst>
          </p:cNvPr>
          <p:cNvSpPr txBox="1"/>
          <p:nvPr/>
        </p:nvSpPr>
        <p:spPr>
          <a:xfrm>
            <a:off x="2063316" y="2494306"/>
            <a:ext cx="2424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Component as cell code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AAAC818-8C43-CF5D-4DB7-21D1E6A0DEED}"/>
              </a:ext>
            </a:extLst>
          </p:cNvPr>
          <p:cNvSpPr/>
          <p:nvPr/>
        </p:nvSpPr>
        <p:spPr>
          <a:xfrm>
            <a:off x="6476841" y="1420406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E0254F2-3F36-2B82-F469-33464298D91B}"/>
              </a:ext>
            </a:extLst>
          </p:cNvPr>
          <p:cNvSpPr txBox="1"/>
          <p:nvPr/>
        </p:nvSpPr>
        <p:spPr>
          <a:xfrm>
            <a:off x="7644330" y="2496339"/>
            <a:ext cx="2997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Component</a:t>
            </a:r>
            <a:r>
              <a:rPr lang="es-ES" dirty="0"/>
              <a:t> as </a:t>
            </a:r>
            <a:r>
              <a:rPr lang="es-ES" dirty="0" err="1"/>
              <a:t>cell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002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C463A-FEB0-DAC2-C592-982AED782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D9825A0-3864-7B82-F4C0-6912BF1AE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#3 – Notebook section 3. Complete layout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0DEB6AD1-A7A1-CBBC-33E2-C1A03F2E3E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0F7002D-478B-4959-3169-5E518898EBC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05F97E-3B7E-8203-F806-FFA5E41962D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8187553-D412-F56C-DD26-11B2C97C2B31}"/>
              </a:ext>
            </a:extLst>
          </p:cNvPr>
          <p:cNvSpPr txBox="1"/>
          <p:nvPr/>
        </p:nvSpPr>
        <p:spPr>
          <a:xfrm>
            <a:off x="685800" y="990600"/>
            <a:ext cx="5410200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Read and describe 4 code blocks in section 3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Python code block 1: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Python code block 2: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Python code block 3: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Python code block 4: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4B67F4D-126C-4796-4E73-E68F0F3CB6B3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4F5FE71-3005-DD28-5A06-1330678AD855}"/>
              </a:ext>
            </a:extLst>
          </p:cNvPr>
          <p:cNvSpPr txBox="1"/>
          <p:nvPr/>
        </p:nvSpPr>
        <p:spPr>
          <a:xfrm>
            <a:off x="7663860" y="3105834"/>
            <a:ext cx="28078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Complete </a:t>
            </a:r>
            <a:r>
              <a:rPr lang="es-ES" dirty="0" err="1"/>
              <a:t>layout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s-ES" dirty="0"/>
          </a:p>
          <a:p>
            <a:pPr algn="ctr"/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811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787F0-CB2C-2FE5-5614-A0F16A628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02B708D-0704-5977-EC6F-88CF05CBBE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Notebook section 4. Exercises – 1 slide per bullet point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25386122-0096-23D3-AB3A-550FBF0A31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713FD8D6-DEAF-544C-DE8A-FEED1CFD25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8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B40145-CD7B-EB6E-E37D-B6E973BB915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C6D55FC-5031-5DAE-893E-BF1355747932}"/>
              </a:ext>
            </a:extLst>
          </p:cNvPr>
          <p:cNvSpPr txBox="1"/>
          <p:nvPr/>
        </p:nvSpPr>
        <p:spPr>
          <a:xfrm>
            <a:off x="685800" y="990600"/>
            <a:ext cx="5410200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Code for …</a:t>
            </a:r>
          </a:p>
          <a:p>
            <a:pPr algn="just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Part a) Creating components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for a unbalanced MZI, using 2x2 50:50 MMIs with arm length difference as parameter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based on the previous, where the arms have thermal tuners on top of each one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for an all-pass ring resonator, using 2x2 50:50 MMIs, with extra length parameter for different perimeters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based on the previous, where the ring has a thermal tuner on top along all the perimeter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based on existing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GDSfactory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spiral components, with length as parameter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Part b) Creating die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die  W = 5 mm x L = 10 mm 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an array of I/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spaced at 250 µm (as much I/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as the width allows)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of this die, with I/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accessible to connect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Part c)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Floorplaning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and die layout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Make an instance of the die as host component for your layout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Add 3 sets of 3 straight waveguides, from left to right of the die, top, middle and bottom of the die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Add 2 of each of the components above, with different lengths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Connect all your components to the I/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7F15AC0-F440-2DF1-6C9D-0A7E2EAFC2C8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452515D-9AC0-62DB-2A62-0C197A32C5E7}"/>
              </a:ext>
            </a:extLst>
          </p:cNvPr>
          <p:cNvSpPr txBox="1"/>
          <p:nvPr/>
        </p:nvSpPr>
        <p:spPr>
          <a:xfrm>
            <a:off x="8180318" y="3105834"/>
            <a:ext cx="1774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Screenshot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738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9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836</TotalTime>
  <Words>726</Words>
  <Application>Microsoft Macintosh PowerPoint</Application>
  <PresentationFormat>Panorámica</PresentationFormat>
  <Paragraphs>96</Paragraphs>
  <Slides>9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Lucida Sans</vt:lpstr>
      <vt:lpstr>Wingdings</vt:lpstr>
      <vt:lpstr>Office Theme</vt:lpstr>
      <vt:lpstr>Presentación de PowerPoint</vt:lpstr>
      <vt:lpstr>Instructions General</vt:lpstr>
      <vt:lpstr>Learning outcome #1a – Notebook section 1. Technology “We will work with the demo UPVfab PDK. Let's view the layer distribution of this PDK”</vt:lpstr>
      <vt:lpstr>Learning outcome #1b – Notebook section 1. Technology – 1 slide per component “Use your design results from Lab2 and Lab3 to create layout instances of your designed components: DCs, MMIs, MZIs &amp; Ring Resonators”</vt:lpstr>
      <vt:lpstr>Learning outcome #2a – Notebook section 2. Layout Fundamentals “Once that we have a working 'new' component, we shall convert it into a Cell. This will allow us to have a hierarchical design”</vt:lpstr>
      <vt:lpstr>Learning outcome #2a – Notebook section 2. Layout Fundamentals – 1 slide per component “Use your design results from Lab2 and Lab3 to create layout instances of your designed components: DCs, MMIs, MZIs &amp; Ring Resonators”  Make cells for all your components</vt:lpstr>
      <vt:lpstr>Learning outcome #3 – Notebook section 3. Complete layout</vt:lpstr>
      <vt:lpstr>Learning outcome #4 – Notebook section 4. Exercises – 1 slide per bullet point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Pascual Muñoz Muñoz</cp:lastModifiedBy>
  <cp:revision>24</cp:revision>
  <dcterms:created xsi:type="dcterms:W3CDTF">2025-01-27T02:46:57Z</dcterms:created>
  <dcterms:modified xsi:type="dcterms:W3CDTF">2026-05-25T15:59:10Z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